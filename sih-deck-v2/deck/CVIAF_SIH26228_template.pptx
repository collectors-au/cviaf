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github.com/Collectors-AU/CVIAF" TargetMode="External"/><Relationship Id="rId5" Type="http://schemas.openxmlformats.org/officeDocument/2006/relationships/hyperlink" Target="https://github.com/Collectors-AU/CVIAF/tree/2fda6eab99dea3da40b69c10cd8b97bbf2fe315c" TargetMode="External"/><Relationship Id="rId6" Type="http://schemas.openxmlformats.org/officeDocument/2006/relationships/hyperlink" Target="https://github.com/Collectors-AU/CVIAF/blob/2fda6eab99dea3da40b69c10cd8b97bbf2fe315c/runs/mvp/comparison.json" TargetMode="External"/><Relationship Id="rId7" Type="http://schemas.openxmlformats.org/officeDocument/2006/relationships/hyperlink" Target="https://github.com/Collectors-AU/CVIAF/blob/2fda6eab99dea3da40b69c10cd8b97bbf2fe315c/runs/merged_fpr_tpr_report.json" TargetMode="External"/><Relationship Id="rId8" Type="http://schemas.openxmlformats.org/officeDocument/2006/relationships/hyperlink" Target="https://github.com/Collectors-AU/CVIAF/blob/2fda6eab99dea3da40b69c10cd8b97bbf2fe315c/runs/fleet_fpr_ledger_report.json" TargetMode="External"/><Relationship Id="rId9" Type="http://schemas.openxmlformats.org/officeDocument/2006/relationships/hyperlink" Target="https://github.com/Collectors-AU/CVIAF/blob/2fda6eab99dea3da40b69c10cd8b97bbf2fe315c/runs/tpr_ladder_at_frozen.json" TargetMode="External"/><Relationship Id="rId10" Type="http://schemas.openxmlformats.org/officeDocument/2006/relationships/hyperlink" Target="https://github.com/Collectors-AU/CVIAF/blob/2fda6eab99dea3da40b69c10cd8b97bbf2fe315c/docs/COVERAGE_STATEMENT.md" TargetMode="External"/><Relationship Id="rId11" Type="http://schemas.openxmlformats.org/officeDocument/2006/relationships/hyperlink" Target="https://github.com/Collectors-AU/CVIAF/blob/2fda6eab99dea3da40b69c10cd8b97bbf2fe315c/runs/assurance/oda_s5/assurance_report.json" TargetMode="External"/><Relationship Id="rId12" Type="http://schemas.openxmlformats.org/officeDocument/2006/relationships/hyperlink" Target="https://github.com/Collectors-AU/CVIAF/blob/2fda6eab99dea3da40b69c10cd8b97bbf2fe315c/docs/MODEL_INVENTORY.md" TargetMode="External"/><Relationship Id="rId13" Type="http://schemas.openxmlformats.org/officeDocument/2006/relationships/hyperlink" Target="https://github.com/Collectors-AU/CVIAF/blob/2fda6eab99dea3da40b69c10cd8b97bbf2fe315c/docs/REPRODUCE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5F6670"/>
                </a:solidFill>
              </a:rPr>
              <a:t>Problem Statement ID  </a:t>
            </a:r>
            <a:r>
              <a:rPr sz="1250">
                <a:solidFill>
                  <a:srgbClr val="1F242B"/>
                </a:solidFill>
              </a:rPr>
              <a:t>SIH26228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5F6670"/>
                </a:solidFill>
              </a:rPr>
              <a:t>Problem Statement Title  </a:t>
            </a:r>
            <a:r>
              <a:rPr sz="1250">
                <a:solidFill>
                  <a:srgbClr val="1F242B"/>
                </a:solidFill>
              </a:rPr>
              <a:t>Trustworthy Computer Vision Integrity Assurance for Data, Models and Inference Outputs in Multi-Contributor Pipelines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5F6670"/>
                </a:solidFill>
              </a:rPr>
              <a:t>Theme  </a:t>
            </a:r>
            <a:r>
              <a:rPr sz="1250">
                <a:solidFill>
                  <a:srgbClr val="1F242B"/>
                </a:solidFill>
              </a:rPr>
              <a:t>Blockchain &amp; Cybersecurity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5F6670"/>
                </a:solidFill>
              </a:rPr>
              <a:t>PS Category  </a:t>
            </a:r>
            <a:r>
              <a:rPr sz="1250">
                <a:solidFill>
                  <a:srgbClr val="1F242B"/>
                </a:solidFill>
              </a:rPr>
              <a:t>Software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5F6670"/>
                </a:solidFill>
              </a:rPr>
              <a:t>Team ID  </a:t>
            </a:r>
            <a:r>
              <a:rPr sz="1250">
                <a:solidFill>
                  <a:srgbClr val="1F242B"/>
                </a:solidFill>
              </a:rPr>
              <a:t>179631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5F6670"/>
                </a:solidFill>
              </a:rPr>
              <a:t>Team Name  </a:t>
            </a:r>
            <a:r>
              <a:rPr sz="1250">
                <a:solidFill>
                  <a:srgbClr val="1F242B"/>
                </a:solidFill>
              </a:rPr>
              <a:t>Team Collectors</a:t>
            </a:r>
          </a:p>
          <a:p>
            <a:pPr>
              <a:spcBef>
                <a:spcPts val="1200"/>
              </a:spcBef>
            </a:pPr>
            <a:r>
              <a:rPr sz="1250" b="1">
                <a:solidFill>
                  <a:srgbClr val="0070C0"/>
                </a:solidFill>
              </a:rPr>
              <a:t>Offline integrity assurance for contributed data, models and inference records — measured, not asserted.</a:t>
            </a:r>
          </a:p>
          <a:p>
            <a:r>
              <a:rPr sz="850">
                <a:solidFill>
                  <a:srgbClr val="8A9098"/>
                </a:solidFill>
              </a:rPr>
              <a:t>Evidence base: CVIAF worktree 2fda6eab (branch task3-real-backbone); reviewed main 6cddfe0e. Every figure names its file and denominator.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B0C0E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400" b="1"/>
            </a:pPr>
            <a:r>
              <a:t>CVIAF — Computer Vision Integrity Assurance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Collectors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p2-problem"/>
          <p:cNvSpPr txBox="1"/>
          <p:nvPr/>
        </p:nvSpPr>
        <p:spPr>
          <a:xfrm>
            <a:off x="384048" y="1170432"/>
            <a:ext cx="46177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070C0"/>
                </a:solidFill>
              </a:defRPr>
            </a:pPr>
            <a:r>
              <a:t>Problem &amp; insight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Datasets, models and inference logs arrive from parties we do not control — each can be poisoned, swapped or edited.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Today's checks cover one link each, none covers the chain, and none works when the network is gone.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Classifier-era defences do not transfer: phantom boxes and cloaked objects have no classifier analogue.</a:t>
            </a:r>
          </a:p>
        </p:txBody>
      </p:sp>
      <p:sp>
        <p:nvSpPr>
          <p:cNvPr id="15363" name="p2-solution"/>
          <p:cNvSpPr txBox="1"/>
          <p:nvPr/>
        </p:nvSpPr>
        <p:spPr>
          <a:xfrm>
            <a:off x="384048" y="2432304"/>
            <a:ext cx="46177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070C0"/>
                </a:solidFill>
              </a:defRPr>
            </a:pPr>
            <a:r>
              <a:t>Our solution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One offline engine assesses data, model, inference records and drift, then merges every flag into one signed report.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Ground truth first: a laboratory plants known attacks, so every detector is scored, not asserted.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Every score is a conformal p-value against a signed reference battery we control; sample flags roll up per contributor.</a:t>
            </a:r>
          </a:p>
        </p:txBody>
      </p:sp>
      <p:sp>
        <p:nvSpPr>
          <p:cNvPr id="15364" name="p2-proof"/>
          <p:cNvSpPr txBox="1"/>
          <p:nvPr/>
        </p:nvSpPr>
        <p:spPr>
          <a:xfrm>
            <a:off x="384048" y="3767328"/>
            <a:ext cx="4617720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070C0"/>
                </a:solidFill>
              </a:defRPr>
            </a:pPr>
            <a:r>
              <a:t>Innovation &amp; measured proof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Calibrated, not tuned: an explicit error guarantee, and accept is forbidden when an applicable check did not run.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Image-level AUROC 0.9866 (fused_bonf, OGA fabrication) / 0.9062 (ODA cloaking); clean control 0.500.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Provenance 8/8 attacked records vs 4/8 for the enrolled-digest baseline; 0/2 genuine false alarms.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Detection is measured, not asserted: at the frozen 5% false-alarm threshold RefDiv-mean catches 45/94 substitution attacks at dose 0.25 and 92/99 weight tamper at dose 1.00; CTC-mean at the same threshold catches almost none.</a:t>
            </a:r>
          </a:p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1F242B"/>
                </a:solidFill>
              </a:defRPr>
            </a:pPr>
            <a:r>
              <a:t>•  One end-to-end report: 17 findings, CRITICAL → quarantine, 27.1 s audit-trail span.</a:t>
            </a:r>
          </a:p>
        </p:txBody>
      </p:sp>
      <p:sp>
        <p:nvSpPr>
          <p:cNvPr id="15365" name="p2-foot"/>
          <p:cNvSpPr txBox="1"/>
          <p:nvPr/>
        </p:nvSpPr>
        <p:spPr>
          <a:xfrm>
            <a:off x="384048" y="5669280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750" b="0">
                <a:solidFill>
                  <a:srgbClr val="8A9098"/>
                </a:solidFill>
              </a:defRPr>
            </a:pPr>
            <a:r>
              <a:t>AUROC is an image-level ranking statistic on 8 laboratory models, not model-level recall. The provenance run was signed with the HMAC-SHA256 fallback, not Ed25519.</a:t>
            </a:r>
          </a:p>
        </p:txBody>
      </p:sp>
      <p:sp>
        <p:nvSpPr>
          <p:cNvPr id="15366" name="p2-archlabel"/>
          <p:cNvSpPr txBox="1"/>
          <p:nvPr/>
        </p:nvSpPr>
        <p:spPr>
          <a:xfrm>
            <a:off x="5230368" y="113385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1050" b="1">
                <a:solidFill>
                  <a:srgbClr val="0070C0"/>
                </a:solidFill>
              </a:defRPr>
            </a:pPr>
            <a:r>
              <a:t>Architecture — who uses it and what the chain computes offline</a:t>
            </a:r>
          </a:p>
        </p:txBody>
      </p:sp>
      <p:pic>
        <p:nvPicPr>
          <p:cNvPr id="15367" name="p2-architecture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426464"/>
            <a:ext cx="6583680" cy="3291840"/>
          </a:xfrm>
          <a:prstGeom prst="rect">
            <a:avLst/>
          </a:prstGeom>
        </p:spPr>
      </p:pic>
      <p:sp>
        <p:nvSpPr>
          <p:cNvPr id="15368" name="p2-archcap"/>
          <p:cNvSpPr txBox="1"/>
          <p:nvPr/>
        </p:nvSpPr>
        <p:spPr>
          <a:xfrm>
            <a:off x="5230368" y="5614416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750" b="0">
                <a:solidFill>
                  <a:srgbClr val="8A9098"/>
                </a:solidFill>
              </a:defRPr>
            </a:pPr>
            <a:r>
              <a:t>Everything inside the dashed boundary is computed offline from assets the team controls; contributors sit outside it. Source: runs/assurance/oda_s5, runs/merged_fpr_tpr_report.json, runs/tpr_ladder_at_frozen.json, runs/coverage.json @ 2fda6eab.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/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Collectors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p3-intro"/>
          <p:cNvSpPr txBox="1"/>
          <p:nvPr/>
        </p:nvSpPr>
        <p:spPr>
          <a:xfrm>
            <a:off x="384048" y="1078992"/>
            <a:ext cx="114574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5F6670"/>
                </a:solidFill>
              </a:defRPr>
            </a:pPr>
            <a:r>
              <a:t>Every artefact entering a computer-vision pipeline — data, model, inference record — is measured against a reference we own, and every conclusion ships with its confidence and its limits. Detection is scored only at thresholds the clean ledger froze first: RefDiv-mean catches 47.9% of substitution attacks at dose 0.25 and 93.7% at dose 0.50, and 92.9% of weight tamper at dose 1.00.</a:t>
            </a:r>
          </a:p>
        </p:txBody>
      </p:sp>
      <p:sp>
        <p:nvSpPr>
          <p:cNvPr id="17411" name="p3-chain0"/>
          <p:cNvSpPr/>
          <p:nvPr/>
        </p:nvSpPr>
        <p:spPr>
          <a:xfrm>
            <a:off x="384048" y="1444752"/>
            <a:ext cx="2218334" cy="274320"/>
          </a:xfrm>
          <a:prstGeom prst="rect">
            <a:avLst/>
          </a:prstGeom>
          <a:solidFill>
            <a:srgbClr val="F2F5F9"/>
          </a:solidFill>
          <a:ln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intake • reference</a:t>
            </a:r>
          </a:p>
        </p:txBody>
      </p:sp>
      <p:sp>
        <p:nvSpPr>
          <p:cNvPr id="17412" name="p3-chain1"/>
          <p:cNvSpPr/>
          <p:nvPr/>
        </p:nvSpPr>
        <p:spPr>
          <a:xfrm>
            <a:off x="2675534" y="1444752"/>
            <a:ext cx="2218334" cy="274320"/>
          </a:xfrm>
          <a:prstGeom prst="rect">
            <a:avLst/>
          </a:prstGeom>
          <a:solidFill>
            <a:srgbClr val="F2F5F9"/>
          </a:solidFill>
          <a:ln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signals</a:t>
            </a:r>
          </a:p>
        </p:txBody>
      </p:sp>
      <p:sp>
        <p:nvSpPr>
          <p:cNvPr id="17413" name="p3-chain2"/>
          <p:cNvSpPr/>
          <p:nvPr/>
        </p:nvSpPr>
        <p:spPr>
          <a:xfrm>
            <a:off x="4967020" y="1444752"/>
            <a:ext cx="2218334" cy="274320"/>
          </a:xfrm>
          <a:prstGeom prst="rect">
            <a:avLst/>
          </a:prstGeom>
          <a:solidFill>
            <a:srgbClr val="F2F5F9"/>
          </a:solidFill>
          <a:ln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frozen calibration</a:t>
            </a:r>
          </a:p>
        </p:txBody>
      </p:sp>
      <p:sp>
        <p:nvSpPr>
          <p:cNvPr id="17414" name="p3-chain3"/>
          <p:cNvSpPr/>
          <p:nvPr/>
        </p:nvSpPr>
        <p:spPr>
          <a:xfrm>
            <a:off x="7258507" y="1444752"/>
            <a:ext cx="2218334" cy="274320"/>
          </a:xfrm>
          <a:prstGeom prst="rect">
            <a:avLst/>
          </a:prstGeom>
          <a:solidFill>
            <a:srgbClr val="F2F5F9"/>
          </a:solidFill>
          <a:ln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attack scoring</a:t>
            </a:r>
          </a:p>
        </p:txBody>
      </p:sp>
      <p:sp>
        <p:nvSpPr>
          <p:cNvPr id="17415" name="p3-chain4"/>
          <p:cNvSpPr/>
          <p:nvPr/>
        </p:nvSpPr>
        <p:spPr>
          <a:xfrm>
            <a:off x="9549993" y="1444752"/>
            <a:ext cx="2218334" cy="274320"/>
          </a:xfrm>
          <a:prstGeom prst="rect">
            <a:avLst/>
          </a:prstGeom>
          <a:solidFill>
            <a:srgbClr val="F2F5F9"/>
          </a:solidFill>
          <a:ln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findings • coverage</a:t>
            </a:r>
          </a:p>
        </p:txBody>
      </p:sp>
      <p:sp>
        <p:nvSpPr>
          <p:cNvPr id="17416" name="p3-headline-note"/>
          <p:cNvSpPr txBox="1"/>
          <p:nvPr/>
        </p:nvSpPr>
        <p:spPr>
          <a:xfrm>
            <a:off x="1453896" y="1755648"/>
            <a:ext cx="93177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800" b="1">
                <a:solidFill>
                  <a:srgbClr val="0070C0"/>
                </a:solidFill>
              </a:defRPr>
            </a:pPr>
            <a:r>
              <a:t>HEADLINE CELLS — the figures the repository's number audit enforces</a:t>
            </a:r>
          </a:p>
        </p:txBody>
      </p:sp>
      <p:pic>
        <p:nvPicPr>
          <p:cNvPr id="17417" name="p3-headline-strip" descr="tpr_headline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1920240"/>
            <a:ext cx="9317736" cy="1167524"/>
          </a:xfrm>
          <a:prstGeom prst="rect">
            <a:avLst/>
          </a:prstGeom>
        </p:spPr>
      </p:pic>
      <p:pic>
        <p:nvPicPr>
          <p:cNvPr id="17418" name="p3-dose-panels" descr="dose_panels_w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145536"/>
            <a:ext cx="11457432" cy="2025444"/>
          </a:xfrm>
          <a:prstGeom prst="rect">
            <a:avLst/>
          </a:prstGeom>
        </p:spPr>
      </p:pic>
      <p:graphicFrame>
        <p:nvGraphicFramePr>
          <p:cNvPr id="17419" name="Table 17418"/>
          <p:cNvGraphicFramePr>
            <a:graphicFrameLocks noGrp="1"/>
          </p:cNvGraphicFramePr>
          <p:nvPr/>
        </p:nvGraphicFramePr>
        <p:xfrm>
          <a:off x="384048" y="5193792"/>
          <a:ext cx="11457432" cy="96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242316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Limit</a:t>
                      </a:r>
                    </a:p>
                  </a:txBody>
                  <a:tcPr/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Worked: RefDiv sensitivity rises with measured damage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substitution 13/99 → 45/94 (47.9%) → 59/63 (93.7%); weight_tamper 7/99 → 92/99 (92.9%). CTC-mean catches 2–29% at the same threshold.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thresholds frozen from the clean ledger; arms are synthetic TinyDetector models</a:t>
                      </a:r>
                    </a:p>
                  </a:txBody>
                  <a:tcPr/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Did not work: bias lift stays at the false-alarm rate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5/99 = 5.1% at every dose; 396/396 arms behaviour-inert (zero F1 change)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inert weight change, not a proven harmful backdoor — the blind spot is declared</a:t>
                      </a:r>
                    </a:p>
                  </a:txBody>
                  <a:tcPr/>
                </a:tc>
              </a:tr>
              <a:tr h="242316"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Failure handled: unscorable arms are reported, not hidden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1,188 built → 1,055 scored; 133 unscorable, all substitution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/>
                      </a:pPr>
                      <a:r>
                        <a:t>substitution dose 1.00 has n=7, below min_positives=20 — shown hollow, never as 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420" name="p3-foot"/>
          <p:cNvSpPr txBox="1"/>
          <p:nvPr/>
        </p:nvSpPr>
        <p:spPr>
          <a:xfrm>
            <a:off x="384048" y="6217920"/>
            <a:ext cx="1145743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650" b="0">
                <a:solidFill>
                  <a:srgbClr val="8A9098"/>
                </a:solidFill>
              </a:defRPr>
            </a:pPr>
            <a:r>
              <a:t>Clean-null FPR ledger, 28,313 held-out negatives: refdiv_mean_clean 5.18%, ctc_mean_clean 5.23% — both intervals include the 5% target; ctc_peak/q95 sit at the corpus ceiling (degenerate, not specific). Coverage 14 of 14 clauses measured, gate PASS. A passing gate is not proof of universal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/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Collectors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384048" y="1152144"/>
          <a:ext cx="1145743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292608">
                <a:tc>
                  <a:txBody>
                    <a:bodyPr wrap="square"/>
                    <a:lstStyle/>
                    <a:p>
                      <a:pPr>
                        <a:defRPr sz="850" b="1"/>
                      </a:pPr>
                      <a:r>
                        <a:t>Claim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50" b="1"/>
                      </a:pPr>
                      <a:r>
                        <a:t>Actual evidence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50" b="1"/>
                      </a:pPr>
                      <a:r>
                        <a:t>Boundary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Runs offline, end to end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verify-report validates runs/assurance/oda_s5 against the shipped schema; audit chain 7 entries, valid=True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laboratory corpus; no network in the assurance path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Ingests real dataset formats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COCO and YOLO round trip: 240 images, 392 boxes, exact annotation geometry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PNG pixels are quantised — not byte-equal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Produces a signed, auditable report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17 findings, CRITICAL → quarantine, 27.1 s; report schema-valid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HMAC-SHA256 fallback in this run — not Ed25519 non-repudiation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Named limits, not silent passes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14 supported attack classes and 8 unsupported conditions declared in the report's coverage statement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the demo run skips white-box checks and is kept separate (run demo_assurance)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Planned: real-backbone benchmark and deployment-grade signing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[needs value from H200 run ledger] — not measured in this repository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0"/>
                      </a:pPr>
                      <a:r>
                        <a:t>planned work, deliberately not presented as capability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411" name="p4-verify" descr="verify_oda_s5_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80944"/>
            <a:ext cx="5577840" cy="1956971"/>
          </a:xfrm>
          <a:prstGeom prst="rect">
            <a:avLst/>
          </a:prstGeom>
        </p:spPr>
      </p:pic>
      <p:pic>
        <p:nvPicPr>
          <p:cNvPr id="17412" name="p4-coverage" descr="coverage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2980944"/>
            <a:ext cx="5577840" cy="1503181"/>
          </a:xfrm>
          <a:prstGeom prst="rect">
            <a:avLst/>
          </a:prstGeom>
        </p:spPr>
      </p:pic>
      <p:sp>
        <p:nvSpPr>
          <p:cNvPr id="17413" name="p4-shots-cap"/>
          <p:cNvSpPr txBox="1"/>
          <p:nvPr/>
        </p:nvSpPr>
        <p:spPr>
          <a:xfrm>
            <a:off x="384048" y="4992624"/>
            <a:ext cx="11457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750" b="0">
                <a:solidFill>
                  <a:srgbClr val="8A9098"/>
                </a:solidFill>
              </a:defRPr>
            </a:pPr>
            <a:r>
              <a:t>Left: a real verification run against the named report, executed on this build. Right: coverage resolved from live artefacts; unscorable arms are named, not dropped. Both captions carry the run and commit they came from.</a:t>
            </a:r>
          </a:p>
        </p:txBody>
      </p:sp>
      <p:sp>
        <p:nvSpPr>
          <p:cNvPr id="17414" name="p4-inventory"/>
          <p:cNvSpPr txBox="1"/>
          <p:nvPr/>
        </p:nvSpPr>
        <p:spPr>
          <a:xfrm>
            <a:off x="384048" y="5321808"/>
            <a:ext cx="11457432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750" b="0">
                <a:solidFill>
                  <a:srgbClr val="B03A2E"/>
                </a:solidFill>
              </a:defRPr>
            </a:pPr>
            <a:r>
              <a:t>Corpus inventories are kept apart: the 22,693-member 30 September export record is NOT additive with the 56,627-model study — its 1,056 and 11,637 components are the seed_10150_28385 and seed_10264_24607 shards already inside that study (docs/MODEL_INVENTORY.md §3). A byte-level image-overlap receipt is still outstanding, so no leakage-free claim is made.</a:t>
            </a:r>
          </a:p>
        </p:txBody>
      </p:sp>
      <p:sp>
        <p:nvSpPr>
          <p:cNvPr id="17415" name="p4-photo"/>
          <p:cNvSpPr txBox="1"/>
          <p:nvPr/>
        </p:nvSpPr>
        <p:spPr>
          <a:xfrm>
            <a:off x="384048" y="5961888"/>
            <a:ext cx="11457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700" b="0">
                <a:solidFill>
                  <a:srgbClr val="8A9098"/>
                </a:solidFill>
              </a:defRPr>
            </a:pPr>
            <a:r>
              <a:t>[insert lab photo — AI Lab @ AU QUASAR; context only, not a benchmark]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/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Collectors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p5-intro"/>
          <p:cNvSpPr txBox="1"/>
          <p:nvPr/>
        </p:nvSpPr>
        <p:spPr>
          <a:xfrm>
            <a:off x="384048" y="1097280"/>
            <a:ext cx="1145743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950" b="0">
                <a:solidFill>
                  <a:srgbClr val="5F6670"/>
                </a:solidFill>
              </a:defRPr>
            </a:pPr>
            <a:r>
              <a:t>Implemented baseline checks vs CVIAF on the same laboratory cases — a measured tradeoff on a small cohort, not universal superiority. Read as an engineering result: fewer asset false alarms and a richer evidence trail, paid for with lower item-level recall. No measured reduction in analyst hours, incidents, cost or readiness risk exists in this repository.</a:t>
            </a:r>
          </a:p>
        </p:txBody>
      </p:sp>
      <p:pic>
        <p:nvPicPr>
          <p:cNvPr id="17411" name="p5-model" descr="baseline_model_ax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554480"/>
            <a:ext cx="5577840" cy="3160663"/>
          </a:xfrm>
          <a:prstGeom prst="rect">
            <a:avLst/>
          </a:prstGeom>
        </p:spPr>
      </p:pic>
      <p:pic>
        <p:nvPicPr>
          <p:cNvPr id="17412" name="p5-data" descr="baseline_data_ax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554480"/>
            <a:ext cx="5577840" cy="2565872"/>
          </a:xfrm>
          <a:prstGeom prst="rect">
            <a:avLst/>
          </a:prstGeom>
        </p:spPr>
      </p:pic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384048" y="4791456"/>
          <a:ext cx="1145743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243840">
                <a:tc>
                  <a:txBody>
                    <a:bodyPr wrap="square"/>
                    <a:lstStyle/>
                    <a:p>
                      <a:pPr>
                        <a:defRPr sz="750" b="1"/>
                      </a:pPr>
                      <a:r>
                        <a:t>What changed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 b="1"/>
                      </a:pPr>
                      <a:r>
                        <a:t>Before — implemented baseline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 b="1"/>
                      </a:pPr>
                      <a:r>
                        <a:t>After — CVIAF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50" b="1"/>
                      </a:pPr>
                      <a:r>
                        <a:t>Boundary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Model axis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fixed threshold 2/2 TPR, 4/4 FPR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1/2 TPR, 0/4 FPR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2 positives, 4 negatives, 2 ASR-gated excluded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Inference tamper + replay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enrolled digest 4/8; abstains 2 attacked, 2 genuine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8/8, FPR 0/2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HMAC fallback; tamper check, not proof of origin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Data axis — assets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7/7 TPR but 1/1 false alarm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2/7 TPR, 0/1 false alarm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fewer asset false alarms, lower recall in this run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Data axis — samples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TP 363 / FP 24 · TPR 84.03% · precision 93.80%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TP 73 / FP 51 · TPR 16.90% · precision 58.87%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unfavourable to CVIAF and retained; asset and sample units are not interchangeable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Attribution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hash-only: top-1 undefined, 0/8 detected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top-1 2/2 on single-culprit classes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/>
                      </a:pPr>
                      <a:r>
                        <a:t>2 scored classes; not universal source accuracy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/>
            </a:pPr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Collectors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p6-intro"/>
          <p:cNvSpPr txBox="1"/>
          <p:nvPr/>
        </p:nvSpPr>
        <p:spPr>
          <a:xfrm>
            <a:off x="384048" y="1152144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1000" b="0">
                <a:solidFill>
                  <a:srgbClr val="5F6670"/>
                </a:solidFill>
              </a:defRPr>
            </a:pPr>
            <a:r>
              <a:t>Every link below opens the specific artefact in the project repository, at the commit this deck was built from. Read the receipt, not this slide.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84048" y="1554480"/>
          <a:ext cx="1145743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74072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Open in repository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Problem statement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4"/>
                        </a:rPr>
                        <a:t>PS 26228 — Trustworthy Computer Vision Integrity Assurance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Repository at this commit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5"/>
                        </a:rPr>
                        <a:t>Collectors-AU/CVIAF @ 2fda6eab (branch task3-real-backbone)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Same-cohort comparison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6"/>
                        </a:rPr>
                        <a:t>runs/mvp/comparison.json — model, data and provenance axes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Large clean-null FPR receipt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7"/>
                        </a:rPr>
                        <a:t>runs/merged_fpr_tpr_report.json — 56,627 models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Fleet ledger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8"/>
                        </a:rPr>
                        <a:t>runs/fleet_fpr_ledger_report.json — 7,503 models, 3,751 held-out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Dose-ladder receipt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9"/>
                        </a:rPr>
                        <a:t>runs/tpr_ladder_at_frozen.json — 1,188 built / 1,055 scored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Coverage and as-built matrix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10"/>
                        </a:rPr>
                        <a:t>runs/coverage.json · docs/COVERAGE_STATEMENT.md · docs/PS26228_ALIGNMENT_MATRIX.md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Report example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11"/>
                        </a:rPr>
                        <a:t>runs/assurance/oda_s5/assurance_report.json — schema-valid, 17 findings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Model inventory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12"/>
                        </a:rPr>
                        <a:t>docs/MODEL_INVENTORY.md — where every model came from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Reproduce offline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0070C0"/>
                          </a:solidFill>
                          <a:hlinkClick r:id="rId13"/>
                        </a:rPr>
                        <a:t>docs/REPRODUCE.md — no network, bundle install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412" name="p6-foot"/>
          <p:cNvSpPr txBox="1"/>
          <p:nvPr/>
        </p:nvSpPr>
        <p:spPr>
          <a:xfrm>
            <a:off x="384048" y="5760720"/>
            <a:ext cx="114574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  <a:defRPr sz="750" b="0">
                <a:solidFill>
                  <a:srgbClr val="8A9098"/>
                </a:solidFill>
              </a:defRPr>
            </a:pPr>
            <a:r>
              <a:t>Evidence manifest: evidence/evidence_manifest.json — every slide number maps to a file, field and denominator. All figures are laboratory / synthetic scope; field validation is pending. docs/PS26228_REQUIREMENT_TRACE.md is historical design intent, not as-built evidence.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